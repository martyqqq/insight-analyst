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6"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4616"/>
    <a:srgbClr val="041E42"/>
    <a:srgbClr val="FE7F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214"/>
    <p:restoredTop sz="96327"/>
  </p:normalViewPr>
  <p:slideViewPr>
    <p:cSldViewPr snapToGrid="0">
      <p:cViewPr varScale="1">
        <p:scale>
          <a:sx n="163" d="100"/>
          <a:sy n="163" d="100"/>
        </p:scale>
        <p:origin x="184" y="5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2B7D2-BE17-3289-A1B5-024EF2933B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19B96E0-39C5-D51F-C97F-6979EA4FB5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A417D94-11AF-9784-B8F7-F9F31CA8F9DB}"/>
              </a:ext>
            </a:extLst>
          </p:cNvPr>
          <p:cNvSpPr>
            <a:spLocks noGrp="1"/>
          </p:cNvSpPr>
          <p:nvPr>
            <p:ph type="dt" sz="half" idx="10"/>
          </p:nvPr>
        </p:nvSpPr>
        <p:spPr/>
        <p:txBody>
          <a:bodyPr/>
          <a:lstStyle/>
          <a:p>
            <a:fld id="{76BC7C80-8AC5-9E48-A01B-9E91791713FA}" type="datetimeFigureOut">
              <a:rPr lang="en-US" smtClean="0"/>
              <a:t>12/4/25</a:t>
            </a:fld>
            <a:endParaRPr lang="en-US"/>
          </a:p>
        </p:txBody>
      </p:sp>
      <p:sp>
        <p:nvSpPr>
          <p:cNvPr id="5" name="Footer Placeholder 4">
            <a:extLst>
              <a:ext uri="{FF2B5EF4-FFF2-40B4-BE49-F238E27FC236}">
                <a16:creationId xmlns:a16="http://schemas.microsoft.com/office/drawing/2014/main" id="{FEF2F3C5-5C53-C5DC-C2D4-E74651DECC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05410F-ACA5-BF3A-BB7E-B55974518DBE}"/>
              </a:ext>
            </a:extLst>
          </p:cNvPr>
          <p:cNvSpPr>
            <a:spLocks noGrp="1"/>
          </p:cNvSpPr>
          <p:nvPr>
            <p:ph type="sldNum" sz="quarter" idx="12"/>
          </p:nvPr>
        </p:nvSpPr>
        <p:spPr/>
        <p:txBody>
          <a:bodyPr/>
          <a:lstStyle/>
          <a:p>
            <a:fld id="{AB44B6FE-2476-FD46-9CE3-4BE72D58A6BB}" type="slidenum">
              <a:rPr lang="en-US" smtClean="0"/>
              <a:t>‹#›</a:t>
            </a:fld>
            <a:endParaRPr lang="en-US"/>
          </a:p>
        </p:txBody>
      </p:sp>
    </p:spTree>
    <p:extLst>
      <p:ext uri="{BB962C8B-B14F-4D97-AF65-F5344CB8AC3E}">
        <p14:creationId xmlns:p14="http://schemas.microsoft.com/office/powerpoint/2010/main" val="40833734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E6557-1736-C1F4-9FBB-63A7910F35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2A6701-C824-76A6-FF74-847420DFE2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620EFB-6A39-08A5-DB5C-75B404B8669C}"/>
              </a:ext>
            </a:extLst>
          </p:cNvPr>
          <p:cNvSpPr>
            <a:spLocks noGrp="1"/>
          </p:cNvSpPr>
          <p:nvPr>
            <p:ph type="dt" sz="half" idx="10"/>
          </p:nvPr>
        </p:nvSpPr>
        <p:spPr/>
        <p:txBody>
          <a:bodyPr/>
          <a:lstStyle/>
          <a:p>
            <a:fld id="{76BC7C80-8AC5-9E48-A01B-9E91791713FA}" type="datetimeFigureOut">
              <a:rPr lang="en-US" smtClean="0"/>
              <a:t>12/4/25</a:t>
            </a:fld>
            <a:endParaRPr lang="en-US"/>
          </a:p>
        </p:txBody>
      </p:sp>
      <p:sp>
        <p:nvSpPr>
          <p:cNvPr id="5" name="Footer Placeholder 4">
            <a:extLst>
              <a:ext uri="{FF2B5EF4-FFF2-40B4-BE49-F238E27FC236}">
                <a16:creationId xmlns:a16="http://schemas.microsoft.com/office/drawing/2014/main" id="{FFED8DE5-1FD3-6CC8-E734-D3782BBA87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5821FC-7A2F-D1F9-9849-CD94721F7588}"/>
              </a:ext>
            </a:extLst>
          </p:cNvPr>
          <p:cNvSpPr>
            <a:spLocks noGrp="1"/>
          </p:cNvSpPr>
          <p:nvPr>
            <p:ph type="sldNum" sz="quarter" idx="12"/>
          </p:nvPr>
        </p:nvSpPr>
        <p:spPr/>
        <p:txBody>
          <a:bodyPr/>
          <a:lstStyle/>
          <a:p>
            <a:fld id="{AB44B6FE-2476-FD46-9CE3-4BE72D58A6BB}" type="slidenum">
              <a:rPr lang="en-US" smtClean="0"/>
              <a:t>‹#›</a:t>
            </a:fld>
            <a:endParaRPr lang="en-US"/>
          </a:p>
        </p:txBody>
      </p:sp>
    </p:spTree>
    <p:extLst>
      <p:ext uri="{BB962C8B-B14F-4D97-AF65-F5344CB8AC3E}">
        <p14:creationId xmlns:p14="http://schemas.microsoft.com/office/powerpoint/2010/main" val="2668453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A3466-9926-9DD6-CF45-6FE3034A801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758D365-9972-D774-22A3-78B437E698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10003F-8864-18DB-D358-E097D618E360}"/>
              </a:ext>
            </a:extLst>
          </p:cNvPr>
          <p:cNvSpPr>
            <a:spLocks noGrp="1"/>
          </p:cNvSpPr>
          <p:nvPr>
            <p:ph type="dt" sz="half" idx="10"/>
          </p:nvPr>
        </p:nvSpPr>
        <p:spPr/>
        <p:txBody>
          <a:bodyPr/>
          <a:lstStyle/>
          <a:p>
            <a:fld id="{76BC7C80-8AC5-9E48-A01B-9E91791713FA}" type="datetimeFigureOut">
              <a:rPr lang="en-US" smtClean="0"/>
              <a:t>12/4/25</a:t>
            </a:fld>
            <a:endParaRPr lang="en-US"/>
          </a:p>
        </p:txBody>
      </p:sp>
      <p:sp>
        <p:nvSpPr>
          <p:cNvPr id="5" name="Footer Placeholder 4">
            <a:extLst>
              <a:ext uri="{FF2B5EF4-FFF2-40B4-BE49-F238E27FC236}">
                <a16:creationId xmlns:a16="http://schemas.microsoft.com/office/drawing/2014/main" id="{7350E24C-5187-BFBE-8AA3-1EAC2DA6AB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E2E8C5-40E1-0A25-F007-8BA045767540}"/>
              </a:ext>
            </a:extLst>
          </p:cNvPr>
          <p:cNvSpPr>
            <a:spLocks noGrp="1"/>
          </p:cNvSpPr>
          <p:nvPr>
            <p:ph type="sldNum" sz="quarter" idx="12"/>
          </p:nvPr>
        </p:nvSpPr>
        <p:spPr/>
        <p:txBody>
          <a:bodyPr/>
          <a:lstStyle/>
          <a:p>
            <a:fld id="{AB44B6FE-2476-FD46-9CE3-4BE72D58A6BB}" type="slidenum">
              <a:rPr lang="en-US" smtClean="0"/>
              <a:t>‹#›</a:t>
            </a:fld>
            <a:endParaRPr lang="en-US"/>
          </a:p>
        </p:txBody>
      </p:sp>
    </p:spTree>
    <p:extLst>
      <p:ext uri="{BB962C8B-B14F-4D97-AF65-F5344CB8AC3E}">
        <p14:creationId xmlns:p14="http://schemas.microsoft.com/office/powerpoint/2010/main" val="5449666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D6091-A80E-718B-799B-AC66577891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8932D5D-D803-F8BB-8DC1-707B0D1237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C57E24-B150-82BF-BEF6-C6C74A65A0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163A9C3-4BC4-C5D3-4FB2-4244D4B60BEF}"/>
              </a:ext>
            </a:extLst>
          </p:cNvPr>
          <p:cNvSpPr>
            <a:spLocks noGrp="1"/>
          </p:cNvSpPr>
          <p:nvPr>
            <p:ph type="dt" sz="half" idx="10"/>
          </p:nvPr>
        </p:nvSpPr>
        <p:spPr/>
        <p:txBody>
          <a:bodyPr/>
          <a:lstStyle/>
          <a:p>
            <a:fld id="{76BC7C80-8AC5-9E48-A01B-9E91791713FA}" type="datetimeFigureOut">
              <a:rPr lang="en-US" smtClean="0"/>
              <a:t>12/4/25</a:t>
            </a:fld>
            <a:endParaRPr lang="en-US"/>
          </a:p>
        </p:txBody>
      </p:sp>
      <p:sp>
        <p:nvSpPr>
          <p:cNvPr id="6" name="Footer Placeholder 5">
            <a:extLst>
              <a:ext uri="{FF2B5EF4-FFF2-40B4-BE49-F238E27FC236}">
                <a16:creationId xmlns:a16="http://schemas.microsoft.com/office/drawing/2014/main" id="{DDD2B9E6-1092-B307-2ACE-BB574EF93B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C41D8B-BB93-7CE7-6397-7B59FFF72CB8}"/>
              </a:ext>
            </a:extLst>
          </p:cNvPr>
          <p:cNvSpPr>
            <a:spLocks noGrp="1"/>
          </p:cNvSpPr>
          <p:nvPr>
            <p:ph type="sldNum" sz="quarter" idx="12"/>
          </p:nvPr>
        </p:nvSpPr>
        <p:spPr/>
        <p:txBody>
          <a:bodyPr/>
          <a:lstStyle/>
          <a:p>
            <a:fld id="{AB44B6FE-2476-FD46-9CE3-4BE72D58A6BB}" type="slidenum">
              <a:rPr lang="en-US" smtClean="0"/>
              <a:t>‹#›</a:t>
            </a:fld>
            <a:endParaRPr lang="en-US"/>
          </a:p>
        </p:txBody>
      </p:sp>
    </p:spTree>
    <p:extLst>
      <p:ext uri="{BB962C8B-B14F-4D97-AF65-F5344CB8AC3E}">
        <p14:creationId xmlns:p14="http://schemas.microsoft.com/office/powerpoint/2010/main" val="4209516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25282-477A-372B-020F-CFE53D988B7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51F1A02-E124-4103-811E-3BD3BDC44E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6B0BC5-A2B7-79B5-2FA5-8E40547868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596E1C-5DBA-B3E3-0942-0E62856CA7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231E54-2C92-80DE-ED57-B92C1855A6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7CF8C7-10FC-198E-96E4-FFA9464D2232}"/>
              </a:ext>
            </a:extLst>
          </p:cNvPr>
          <p:cNvSpPr>
            <a:spLocks noGrp="1"/>
          </p:cNvSpPr>
          <p:nvPr>
            <p:ph type="dt" sz="half" idx="10"/>
          </p:nvPr>
        </p:nvSpPr>
        <p:spPr/>
        <p:txBody>
          <a:bodyPr/>
          <a:lstStyle/>
          <a:p>
            <a:fld id="{76BC7C80-8AC5-9E48-A01B-9E91791713FA}" type="datetimeFigureOut">
              <a:rPr lang="en-US" smtClean="0"/>
              <a:t>12/4/25</a:t>
            </a:fld>
            <a:endParaRPr lang="en-US"/>
          </a:p>
        </p:txBody>
      </p:sp>
      <p:sp>
        <p:nvSpPr>
          <p:cNvPr id="8" name="Footer Placeholder 7">
            <a:extLst>
              <a:ext uri="{FF2B5EF4-FFF2-40B4-BE49-F238E27FC236}">
                <a16:creationId xmlns:a16="http://schemas.microsoft.com/office/drawing/2014/main" id="{6B5CEEEB-3A67-1800-2146-E19703BDBE2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DAE947D-CFAE-6508-F0FD-5E179BFB1C84}"/>
              </a:ext>
            </a:extLst>
          </p:cNvPr>
          <p:cNvSpPr>
            <a:spLocks noGrp="1"/>
          </p:cNvSpPr>
          <p:nvPr>
            <p:ph type="sldNum" sz="quarter" idx="12"/>
          </p:nvPr>
        </p:nvSpPr>
        <p:spPr/>
        <p:txBody>
          <a:bodyPr/>
          <a:lstStyle/>
          <a:p>
            <a:fld id="{AB44B6FE-2476-FD46-9CE3-4BE72D58A6BB}" type="slidenum">
              <a:rPr lang="en-US" smtClean="0"/>
              <a:t>‹#›</a:t>
            </a:fld>
            <a:endParaRPr lang="en-US"/>
          </a:p>
        </p:txBody>
      </p:sp>
    </p:spTree>
    <p:extLst>
      <p:ext uri="{BB962C8B-B14F-4D97-AF65-F5344CB8AC3E}">
        <p14:creationId xmlns:p14="http://schemas.microsoft.com/office/powerpoint/2010/main" val="32572380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0C5F4-2587-1310-C77C-CCBB60D189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9F33EBC-76C7-A52A-1209-32D8469F6AE4}"/>
              </a:ext>
            </a:extLst>
          </p:cNvPr>
          <p:cNvSpPr>
            <a:spLocks noGrp="1"/>
          </p:cNvSpPr>
          <p:nvPr>
            <p:ph type="dt" sz="half" idx="10"/>
          </p:nvPr>
        </p:nvSpPr>
        <p:spPr/>
        <p:txBody>
          <a:bodyPr/>
          <a:lstStyle/>
          <a:p>
            <a:fld id="{76BC7C80-8AC5-9E48-A01B-9E91791713FA}" type="datetimeFigureOut">
              <a:rPr lang="en-US" smtClean="0"/>
              <a:t>12/4/25</a:t>
            </a:fld>
            <a:endParaRPr lang="en-US"/>
          </a:p>
        </p:txBody>
      </p:sp>
      <p:sp>
        <p:nvSpPr>
          <p:cNvPr id="4" name="Footer Placeholder 3">
            <a:extLst>
              <a:ext uri="{FF2B5EF4-FFF2-40B4-BE49-F238E27FC236}">
                <a16:creationId xmlns:a16="http://schemas.microsoft.com/office/drawing/2014/main" id="{C07B099B-57BA-89FA-5B88-3CF5CEDC1DE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C095921-0D72-9A4B-D2B2-CBF48780B9E5}"/>
              </a:ext>
            </a:extLst>
          </p:cNvPr>
          <p:cNvSpPr>
            <a:spLocks noGrp="1"/>
          </p:cNvSpPr>
          <p:nvPr>
            <p:ph type="sldNum" sz="quarter" idx="12"/>
          </p:nvPr>
        </p:nvSpPr>
        <p:spPr/>
        <p:txBody>
          <a:bodyPr/>
          <a:lstStyle/>
          <a:p>
            <a:fld id="{AB44B6FE-2476-FD46-9CE3-4BE72D58A6BB}" type="slidenum">
              <a:rPr lang="en-US" smtClean="0"/>
              <a:t>‹#›</a:t>
            </a:fld>
            <a:endParaRPr lang="en-US"/>
          </a:p>
        </p:txBody>
      </p:sp>
    </p:spTree>
    <p:extLst>
      <p:ext uri="{BB962C8B-B14F-4D97-AF65-F5344CB8AC3E}">
        <p14:creationId xmlns:p14="http://schemas.microsoft.com/office/powerpoint/2010/main" val="1305872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515DB1-306E-BFD7-B13F-BE6137057AD9}"/>
              </a:ext>
            </a:extLst>
          </p:cNvPr>
          <p:cNvSpPr>
            <a:spLocks noGrp="1"/>
          </p:cNvSpPr>
          <p:nvPr>
            <p:ph type="dt" sz="half" idx="10"/>
          </p:nvPr>
        </p:nvSpPr>
        <p:spPr/>
        <p:txBody>
          <a:bodyPr/>
          <a:lstStyle/>
          <a:p>
            <a:fld id="{76BC7C80-8AC5-9E48-A01B-9E91791713FA}" type="datetimeFigureOut">
              <a:rPr lang="en-US" smtClean="0"/>
              <a:t>12/4/25</a:t>
            </a:fld>
            <a:endParaRPr lang="en-US"/>
          </a:p>
        </p:txBody>
      </p:sp>
      <p:sp>
        <p:nvSpPr>
          <p:cNvPr id="3" name="Footer Placeholder 2">
            <a:extLst>
              <a:ext uri="{FF2B5EF4-FFF2-40B4-BE49-F238E27FC236}">
                <a16:creationId xmlns:a16="http://schemas.microsoft.com/office/drawing/2014/main" id="{EEED98D9-0A42-CDA4-7FF5-DB65BC50E9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9DA63A3-08B8-8DD8-9541-799C55C1DA87}"/>
              </a:ext>
            </a:extLst>
          </p:cNvPr>
          <p:cNvSpPr>
            <a:spLocks noGrp="1"/>
          </p:cNvSpPr>
          <p:nvPr>
            <p:ph type="sldNum" sz="quarter" idx="12"/>
          </p:nvPr>
        </p:nvSpPr>
        <p:spPr/>
        <p:txBody>
          <a:bodyPr/>
          <a:lstStyle/>
          <a:p>
            <a:fld id="{AB44B6FE-2476-FD46-9CE3-4BE72D58A6BB}" type="slidenum">
              <a:rPr lang="en-US" smtClean="0"/>
              <a:t>‹#›</a:t>
            </a:fld>
            <a:endParaRPr lang="en-US"/>
          </a:p>
        </p:txBody>
      </p:sp>
    </p:spTree>
    <p:extLst>
      <p:ext uri="{BB962C8B-B14F-4D97-AF65-F5344CB8AC3E}">
        <p14:creationId xmlns:p14="http://schemas.microsoft.com/office/powerpoint/2010/main" val="20126990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9B23E-1A42-87DB-D0E2-0752400BEB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91E599-4FE5-5FA6-0018-D1CC8BECA8A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94DE12-AE3D-1514-2BE7-CC94F5A0E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35027F-6C93-2401-EA57-E7710757A40F}"/>
              </a:ext>
            </a:extLst>
          </p:cNvPr>
          <p:cNvSpPr>
            <a:spLocks noGrp="1"/>
          </p:cNvSpPr>
          <p:nvPr>
            <p:ph type="dt" sz="half" idx="10"/>
          </p:nvPr>
        </p:nvSpPr>
        <p:spPr/>
        <p:txBody>
          <a:bodyPr/>
          <a:lstStyle/>
          <a:p>
            <a:fld id="{76BC7C80-8AC5-9E48-A01B-9E91791713FA}" type="datetimeFigureOut">
              <a:rPr lang="en-US" smtClean="0"/>
              <a:t>12/4/25</a:t>
            </a:fld>
            <a:endParaRPr lang="en-US"/>
          </a:p>
        </p:txBody>
      </p:sp>
      <p:sp>
        <p:nvSpPr>
          <p:cNvPr id="6" name="Footer Placeholder 5">
            <a:extLst>
              <a:ext uri="{FF2B5EF4-FFF2-40B4-BE49-F238E27FC236}">
                <a16:creationId xmlns:a16="http://schemas.microsoft.com/office/drawing/2014/main" id="{68E37A6A-91B1-22CC-73AA-05D2375029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11B863-6BFF-4CAE-4520-331B74BE1E2B}"/>
              </a:ext>
            </a:extLst>
          </p:cNvPr>
          <p:cNvSpPr>
            <a:spLocks noGrp="1"/>
          </p:cNvSpPr>
          <p:nvPr>
            <p:ph type="sldNum" sz="quarter" idx="12"/>
          </p:nvPr>
        </p:nvSpPr>
        <p:spPr/>
        <p:txBody>
          <a:bodyPr/>
          <a:lstStyle/>
          <a:p>
            <a:fld id="{AB44B6FE-2476-FD46-9CE3-4BE72D58A6BB}" type="slidenum">
              <a:rPr lang="en-US" smtClean="0"/>
              <a:t>‹#›</a:t>
            </a:fld>
            <a:endParaRPr lang="en-US"/>
          </a:p>
        </p:txBody>
      </p:sp>
    </p:spTree>
    <p:extLst>
      <p:ext uri="{BB962C8B-B14F-4D97-AF65-F5344CB8AC3E}">
        <p14:creationId xmlns:p14="http://schemas.microsoft.com/office/powerpoint/2010/main" val="3632304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5E2EE-EFCA-53F5-B4A6-F9F37AB97E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84D7BE-E4FB-4AB5-679C-E8F31802DF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406C1E5-A88D-A27E-0156-930050C4FD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EE8E2A-5BC1-7517-65A2-C2CB4CAEEE1E}"/>
              </a:ext>
            </a:extLst>
          </p:cNvPr>
          <p:cNvSpPr>
            <a:spLocks noGrp="1"/>
          </p:cNvSpPr>
          <p:nvPr>
            <p:ph type="dt" sz="half" idx="10"/>
          </p:nvPr>
        </p:nvSpPr>
        <p:spPr/>
        <p:txBody>
          <a:bodyPr/>
          <a:lstStyle/>
          <a:p>
            <a:fld id="{76BC7C80-8AC5-9E48-A01B-9E91791713FA}" type="datetimeFigureOut">
              <a:rPr lang="en-US" smtClean="0"/>
              <a:t>12/4/25</a:t>
            </a:fld>
            <a:endParaRPr lang="en-US"/>
          </a:p>
        </p:txBody>
      </p:sp>
      <p:sp>
        <p:nvSpPr>
          <p:cNvPr id="6" name="Footer Placeholder 5">
            <a:extLst>
              <a:ext uri="{FF2B5EF4-FFF2-40B4-BE49-F238E27FC236}">
                <a16:creationId xmlns:a16="http://schemas.microsoft.com/office/drawing/2014/main" id="{2EC1AE47-4B2C-B9CB-E55B-1F86D5CDBE4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5978EDB-69BF-9646-28D5-324623142B2C}"/>
              </a:ext>
            </a:extLst>
          </p:cNvPr>
          <p:cNvSpPr>
            <a:spLocks noGrp="1"/>
          </p:cNvSpPr>
          <p:nvPr>
            <p:ph type="sldNum" sz="quarter" idx="12"/>
          </p:nvPr>
        </p:nvSpPr>
        <p:spPr/>
        <p:txBody>
          <a:bodyPr/>
          <a:lstStyle/>
          <a:p>
            <a:fld id="{AB44B6FE-2476-FD46-9CE3-4BE72D58A6BB}" type="slidenum">
              <a:rPr lang="en-US" smtClean="0"/>
              <a:t>‹#›</a:t>
            </a:fld>
            <a:endParaRPr lang="en-US"/>
          </a:p>
        </p:txBody>
      </p:sp>
    </p:spTree>
    <p:extLst>
      <p:ext uri="{BB962C8B-B14F-4D97-AF65-F5344CB8AC3E}">
        <p14:creationId xmlns:p14="http://schemas.microsoft.com/office/powerpoint/2010/main" val="1832707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A9C80-1823-1643-045F-9059C455C3B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9FDE46-D1A6-65FE-31E1-E63A653AF35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D627F9-4EDF-FDCD-2D88-9C1DBA1FEE1D}"/>
              </a:ext>
            </a:extLst>
          </p:cNvPr>
          <p:cNvSpPr>
            <a:spLocks noGrp="1"/>
          </p:cNvSpPr>
          <p:nvPr>
            <p:ph type="dt" sz="half" idx="10"/>
          </p:nvPr>
        </p:nvSpPr>
        <p:spPr/>
        <p:txBody>
          <a:bodyPr/>
          <a:lstStyle/>
          <a:p>
            <a:fld id="{76BC7C80-8AC5-9E48-A01B-9E91791713FA}" type="datetimeFigureOut">
              <a:rPr lang="en-US" smtClean="0"/>
              <a:t>12/4/25</a:t>
            </a:fld>
            <a:endParaRPr lang="en-US"/>
          </a:p>
        </p:txBody>
      </p:sp>
      <p:sp>
        <p:nvSpPr>
          <p:cNvPr id="5" name="Footer Placeholder 4">
            <a:extLst>
              <a:ext uri="{FF2B5EF4-FFF2-40B4-BE49-F238E27FC236}">
                <a16:creationId xmlns:a16="http://schemas.microsoft.com/office/drawing/2014/main" id="{0F8B1E3C-9B95-7AFF-BD84-84D7BE8815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5EADB1-C0EC-909E-507F-C4A0B8D9F49C}"/>
              </a:ext>
            </a:extLst>
          </p:cNvPr>
          <p:cNvSpPr>
            <a:spLocks noGrp="1"/>
          </p:cNvSpPr>
          <p:nvPr>
            <p:ph type="sldNum" sz="quarter" idx="12"/>
          </p:nvPr>
        </p:nvSpPr>
        <p:spPr/>
        <p:txBody>
          <a:bodyPr/>
          <a:lstStyle/>
          <a:p>
            <a:fld id="{AB44B6FE-2476-FD46-9CE3-4BE72D58A6BB}" type="slidenum">
              <a:rPr lang="en-US" smtClean="0"/>
              <a:t>‹#›</a:t>
            </a:fld>
            <a:endParaRPr lang="en-US"/>
          </a:p>
        </p:txBody>
      </p:sp>
    </p:spTree>
    <p:extLst>
      <p:ext uri="{BB962C8B-B14F-4D97-AF65-F5344CB8AC3E}">
        <p14:creationId xmlns:p14="http://schemas.microsoft.com/office/powerpoint/2010/main" val="21886761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C1CBBB2-3023-B598-BC0B-ECD4934C9D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C11D34-B8B2-8733-6CA7-BD58A9A7F7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F822A6-12EA-F08A-81E9-EB59284895ED}"/>
              </a:ext>
            </a:extLst>
          </p:cNvPr>
          <p:cNvSpPr>
            <a:spLocks noGrp="1"/>
          </p:cNvSpPr>
          <p:nvPr>
            <p:ph type="dt" sz="half" idx="10"/>
          </p:nvPr>
        </p:nvSpPr>
        <p:spPr/>
        <p:txBody>
          <a:bodyPr/>
          <a:lstStyle/>
          <a:p>
            <a:fld id="{76BC7C80-8AC5-9E48-A01B-9E91791713FA}" type="datetimeFigureOut">
              <a:rPr lang="en-US" smtClean="0"/>
              <a:t>12/4/25</a:t>
            </a:fld>
            <a:endParaRPr lang="en-US"/>
          </a:p>
        </p:txBody>
      </p:sp>
      <p:sp>
        <p:nvSpPr>
          <p:cNvPr id="5" name="Footer Placeholder 4">
            <a:extLst>
              <a:ext uri="{FF2B5EF4-FFF2-40B4-BE49-F238E27FC236}">
                <a16:creationId xmlns:a16="http://schemas.microsoft.com/office/drawing/2014/main" id="{00DF526E-3FE9-0650-601E-8305614BBD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D1B348-A614-6944-2ADA-C2407E24E1B1}"/>
              </a:ext>
            </a:extLst>
          </p:cNvPr>
          <p:cNvSpPr>
            <a:spLocks noGrp="1"/>
          </p:cNvSpPr>
          <p:nvPr>
            <p:ph type="sldNum" sz="quarter" idx="12"/>
          </p:nvPr>
        </p:nvSpPr>
        <p:spPr/>
        <p:txBody>
          <a:bodyPr/>
          <a:lstStyle/>
          <a:p>
            <a:fld id="{AB44B6FE-2476-FD46-9CE3-4BE72D58A6BB}" type="slidenum">
              <a:rPr lang="en-US" smtClean="0"/>
              <a:t>‹#›</a:t>
            </a:fld>
            <a:endParaRPr lang="en-US"/>
          </a:p>
        </p:txBody>
      </p:sp>
    </p:spTree>
    <p:extLst>
      <p:ext uri="{BB962C8B-B14F-4D97-AF65-F5344CB8AC3E}">
        <p14:creationId xmlns:p14="http://schemas.microsoft.com/office/powerpoint/2010/main" val="5643870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C71962A-AC6D-9CDF-85BD-3917664265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7396A0-9782-96E7-857A-EACCAB244BE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E5189A-4D3A-B641-AF33-7075DA9A7F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6BC7C80-8AC5-9E48-A01B-9E91791713FA}" type="datetimeFigureOut">
              <a:rPr lang="en-US" smtClean="0"/>
              <a:t>12/4/25</a:t>
            </a:fld>
            <a:endParaRPr lang="en-US"/>
          </a:p>
        </p:txBody>
      </p:sp>
      <p:sp>
        <p:nvSpPr>
          <p:cNvPr id="5" name="Footer Placeholder 4">
            <a:extLst>
              <a:ext uri="{FF2B5EF4-FFF2-40B4-BE49-F238E27FC236}">
                <a16:creationId xmlns:a16="http://schemas.microsoft.com/office/drawing/2014/main" id="{DE31B94F-7DEB-910B-8E9D-C33E9E4CA3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651FAE2-1F60-064C-9A7C-4D60A7C69C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44B6FE-2476-FD46-9CE3-4BE72D58A6BB}" type="slidenum">
              <a:rPr lang="en-US" smtClean="0"/>
              <a:t>‹#›</a:t>
            </a:fld>
            <a:endParaRPr lang="en-US"/>
          </a:p>
        </p:txBody>
      </p:sp>
    </p:spTree>
    <p:extLst>
      <p:ext uri="{BB962C8B-B14F-4D97-AF65-F5344CB8AC3E}">
        <p14:creationId xmlns:p14="http://schemas.microsoft.com/office/powerpoint/2010/main" val="3089832300"/>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F34735-4506-5D99-B092-E469C598A318}"/>
              </a:ext>
            </a:extLst>
          </p:cNvPr>
          <p:cNvSpPr/>
          <p:nvPr/>
        </p:nvSpPr>
        <p:spPr>
          <a:xfrm>
            <a:off x="0" y="0"/>
            <a:ext cx="1295400" cy="6868633"/>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vert="horz" numCol="1" rtlCol="0" anchor="ctr"/>
          <a:lstStyle/>
          <a:p>
            <a:pPr algn="ctr"/>
            <a:r>
              <a:rPr lang="en-US" sz="1600" b="1" dirty="0">
                <a:solidFill>
                  <a:schemeClr val="bg1"/>
                </a:solidFill>
              </a:rPr>
              <a:t>Indiana</a:t>
            </a:r>
          </a:p>
          <a:p>
            <a:pPr algn="ctr"/>
            <a:r>
              <a:rPr lang="en-US" sz="1600" b="1" dirty="0">
                <a:solidFill>
                  <a:schemeClr val="bg1"/>
                </a:solidFill>
              </a:rPr>
              <a:t>Institute of</a:t>
            </a:r>
          </a:p>
          <a:p>
            <a:pPr algn="ctr"/>
            <a:r>
              <a:rPr lang="en-US" sz="1600" b="1" dirty="0">
                <a:solidFill>
                  <a:schemeClr val="bg1"/>
                </a:solidFill>
              </a:rPr>
              <a:t>Technology</a:t>
            </a:r>
          </a:p>
          <a:p>
            <a:pPr algn="ctr"/>
            <a:endParaRPr lang="en-US" sz="1600" b="1" dirty="0">
              <a:solidFill>
                <a:schemeClr val="bg1"/>
              </a:solidFill>
            </a:endParaRPr>
          </a:p>
          <a:p>
            <a:pPr algn="ctr"/>
            <a:endParaRPr lang="en-US" sz="1600" b="1" dirty="0">
              <a:solidFill>
                <a:schemeClr val="bg1"/>
              </a:solidFill>
            </a:endParaRPr>
          </a:p>
          <a:p>
            <a:pPr algn="ctr"/>
            <a:r>
              <a:rPr lang="en-US" sz="1600" b="1" dirty="0">
                <a:solidFill>
                  <a:schemeClr val="bg1"/>
                </a:solidFill>
              </a:rPr>
              <a:t>Cyber</a:t>
            </a:r>
          </a:p>
          <a:p>
            <a:pPr algn="ctr"/>
            <a:r>
              <a:rPr lang="en-US" sz="1600" b="1" dirty="0">
                <a:solidFill>
                  <a:schemeClr val="bg1"/>
                </a:solidFill>
              </a:rPr>
              <a:t>Security</a:t>
            </a:r>
          </a:p>
          <a:p>
            <a:pPr algn="ctr"/>
            <a:endParaRPr lang="en-US" sz="1600" b="1" dirty="0">
              <a:solidFill>
                <a:schemeClr val="bg1"/>
              </a:solidFill>
            </a:endParaRPr>
          </a:p>
          <a:p>
            <a:pPr algn="ctr"/>
            <a:endParaRPr lang="en-US" sz="1600" b="1" dirty="0">
              <a:solidFill>
                <a:schemeClr val="bg1"/>
              </a:solidFill>
            </a:endParaRPr>
          </a:p>
          <a:p>
            <a:pPr algn="ctr"/>
            <a:r>
              <a:rPr lang="en-US" sz="1600" b="1" dirty="0">
                <a:solidFill>
                  <a:schemeClr val="bg1"/>
                </a:solidFill>
              </a:rPr>
              <a:t>Martin Quintana</a:t>
            </a:r>
          </a:p>
        </p:txBody>
      </p:sp>
      <p:pic>
        <p:nvPicPr>
          <p:cNvPr id="1026" name="Picture 2" descr="Indiana Tech">
            <a:extLst>
              <a:ext uri="{FF2B5EF4-FFF2-40B4-BE49-F238E27FC236}">
                <a16:creationId xmlns:a16="http://schemas.microsoft.com/office/drawing/2014/main" id="{A46A8A17-7B2B-DD52-E26E-D16986358C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726" y="6069419"/>
            <a:ext cx="777948" cy="77794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Indiana Tech">
            <a:extLst>
              <a:ext uri="{FF2B5EF4-FFF2-40B4-BE49-F238E27FC236}">
                <a16:creationId xmlns:a16="http://schemas.microsoft.com/office/drawing/2014/main" id="{331081A0-F332-B742-B3AB-80E73A1B33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726" y="10633"/>
            <a:ext cx="777948" cy="777948"/>
          </a:xfrm>
          <a:prstGeom prst="rect">
            <a:avLst/>
          </a:prstGeom>
          <a:noFill/>
          <a:extLst>
            <a:ext uri="{909E8E84-426E-40DD-AFC4-6F175D3DCCD1}">
              <a14:hiddenFill xmlns:a14="http://schemas.microsoft.com/office/drawing/2010/main">
                <a:solidFill>
                  <a:srgbClr val="FFFFFF"/>
                </a:solidFill>
              </a14:hiddenFill>
            </a:ext>
          </a:extLst>
        </p:spPr>
      </p:pic>
      <p:sp>
        <p:nvSpPr>
          <p:cNvPr id="1058" name="Rectangle 1057">
            <a:extLst>
              <a:ext uri="{FF2B5EF4-FFF2-40B4-BE49-F238E27FC236}">
                <a16:creationId xmlns:a16="http://schemas.microsoft.com/office/drawing/2014/main" id="{E1515BE8-FDFE-748E-D930-F478AD36E80C}"/>
              </a:ext>
            </a:extLst>
          </p:cNvPr>
          <p:cNvSpPr/>
          <p:nvPr/>
        </p:nvSpPr>
        <p:spPr>
          <a:xfrm>
            <a:off x="1376313" y="853738"/>
            <a:ext cx="2120446" cy="320511"/>
          </a:xfrm>
          <a:prstGeom prst="rect">
            <a:avLst/>
          </a:prstGeom>
          <a:solidFill>
            <a:srgbClr val="FA461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Abstract</a:t>
            </a:r>
          </a:p>
        </p:txBody>
      </p:sp>
      <p:sp>
        <p:nvSpPr>
          <p:cNvPr id="1061" name="Rectangle 1060">
            <a:extLst>
              <a:ext uri="{FF2B5EF4-FFF2-40B4-BE49-F238E27FC236}">
                <a16:creationId xmlns:a16="http://schemas.microsoft.com/office/drawing/2014/main" id="{621D8636-F9BA-1562-772B-9733501C5EAD}"/>
              </a:ext>
            </a:extLst>
          </p:cNvPr>
          <p:cNvSpPr/>
          <p:nvPr/>
        </p:nvSpPr>
        <p:spPr>
          <a:xfrm>
            <a:off x="1376313" y="1174248"/>
            <a:ext cx="2120446" cy="557223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Artificial intelligence has gained significant attention within recent years. Both threat actors and security analysts use it for day-to-day tasks. This project serves as an entry-level learning opportunity on the topic of AI usage within the realm of cybersecurity. Insight analyst will ingest a given CSV file, display the given values, summarize the events, suggest areas to investigate, provide the appropriate next steps and produce a report to download. This will assist SOC analysts with triaging reports and events. In turn, the result is quicker investigation and threat elimination. This will ensure a reduction in possible breaches as this project was designed keeping speed in mind. In conclusion, Insight Analyst will be a valuable asset for cybersecurity professionals who need quick responses to threats.</a:t>
            </a:r>
          </a:p>
        </p:txBody>
      </p:sp>
      <p:sp>
        <p:nvSpPr>
          <p:cNvPr id="1070" name="Rectangle 1069">
            <a:extLst>
              <a:ext uri="{FF2B5EF4-FFF2-40B4-BE49-F238E27FC236}">
                <a16:creationId xmlns:a16="http://schemas.microsoft.com/office/drawing/2014/main" id="{541811C1-6927-9827-40EA-E4D43738B865}"/>
              </a:ext>
            </a:extLst>
          </p:cNvPr>
          <p:cNvSpPr/>
          <p:nvPr/>
        </p:nvSpPr>
        <p:spPr>
          <a:xfrm>
            <a:off x="3658585" y="853738"/>
            <a:ext cx="4240892" cy="32051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Tools &amp; Technologies</a:t>
            </a:r>
          </a:p>
        </p:txBody>
      </p:sp>
      <p:sp>
        <p:nvSpPr>
          <p:cNvPr id="1071" name="Rectangle 1070">
            <a:extLst>
              <a:ext uri="{FF2B5EF4-FFF2-40B4-BE49-F238E27FC236}">
                <a16:creationId xmlns:a16="http://schemas.microsoft.com/office/drawing/2014/main" id="{43F58587-2C92-644A-CEAF-5322D3BDB17E}"/>
              </a:ext>
            </a:extLst>
          </p:cNvPr>
          <p:cNvSpPr/>
          <p:nvPr/>
        </p:nvSpPr>
        <p:spPr>
          <a:xfrm>
            <a:off x="3658585" y="1174248"/>
            <a:ext cx="2120446" cy="175852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LM Studio is the chosen platform for hosting a Qwen2.5 7 billion parameter model. Qwen2.5 is an instruct model, which results in task-oriented answers. LM Studio features a built-in API server that can interact with the local system.</a:t>
            </a:r>
          </a:p>
        </p:txBody>
      </p:sp>
      <p:sp>
        <p:nvSpPr>
          <p:cNvPr id="1073" name="Rectangle 1072">
            <a:extLst>
              <a:ext uri="{FF2B5EF4-FFF2-40B4-BE49-F238E27FC236}">
                <a16:creationId xmlns:a16="http://schemas.microsoft.com/office/drawing/2014/main" id="{BE608DF2-64D6-E33E-F75D-122E577CE1FB}"/>
              </a:ext>
            </a:extLst>
          </p:cNvPr>
          <p:cNvSpPr/>
          <p:nvPr/>
        </p:nvSpPr>
        <p:spPr>
          <a:xfrm>
            <a:off x="5779031" y="1174248"/>
            <a:ext cx="2120446" cy="175852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A vulnerable Windows Server with </a:t>
            </a:r>
            <a:r>
              <a:rPr lang="en-US" sz="1200" dirty="0" err="1">
                <a:solidFill>
                  <a:schemeClr val="tx1"/>
                </a:solidFill>
              </a:rPr>
              <a:t>Mimikatz.exe</a:t>
            </a:r>
            <a:r>
              <a:rPr lang="en-US" sz="1200" dirty="0">
                <a:solidFill>
                  <a:schemeClr val="tx1"/>
                </a:solidFill>
              </a:rPr>
              <a:t> produced multiple logs for Windows Event Viewer and Splunk. A Debian host is used as the Splunk indexer, collecting logs and allowing for easy searching. These logs are then fed to Insight Analyst.</a:t>
            </a:r>
          </a:p>
        </p:txBody>
      </p:sp>
      <p:sp>
        <p:nvSpPr>
          <p:cNvPr id="1074" name="Rectangle 1073">
            <a:extLst>
              <a:ext uri="{FF2B5EF4-FFF2-40B4-BE49-F238E27FC236}">
                <a16:creationId xmlns:a16="http://schemas.microsoft.com/office/drawing/2014/main" id="{0BA11D80-6011-AF56-8A94-8AFCA70AD426}"/>
              </a:ext>
            </a:extLst>
          </p:cNvPr>
          <p:cNvSpPr/>
          <p:nvPr/>
        </p:nvSpPr>
        <p:spPr>
          <a:xfrm>
            <a:off x="3658585" y="2932770"/>
            <a:ext cx="2120446" cy="175852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Python 3.12 is used for the web application that launches when using Insight Analyst. With flexibility kept in mind, Python can handle both the back-end and front-end. Libraries used includes </a:t>
            </a:r>
            <a:r>
              <a:rPr lang="en-US" sz="1200" dirty="0" err="1">
                <a:solidFill>
                  <a:schemeClr val="tx1"/>
                </a:solidFill>
              </a:rPr>
              <a:t>Streamilt</a:t>
            </a:r>
            <a:r>
              <a:rPr lang="en-US" sz="1200" dirty="0">
                <a:solidFill>
                  <a:schemeClr val="tx1"/>
                </a:solidFill>
              </a:rPr>
              <a:t>, </a:t>
            </a:r>
            <a:r>
              <a:rPr lang="en-US" sz="1200" dirty="0" err="1">
                <a:solidFill>
                  <a:schemeClr val="tx1"/>
                </a:solidFill>
              </a:rPr>
              <a:t>Pyarrow</a:t>
            </a:r>
            <a:r>
              <a:rPr lang="en-US" sz="1200" dirty="0">
                <a:solidFill>
                  <a:schemeClr val="tx1"/>
                </a:solidFill>
              </a:rPr>
              <a:t>, Wheels, pandas, and </a:t>
            </a:r>
            <a:r>
              <a:rPr lang="en-US" sz="1200" dirty="0" err="1">
                <a:solidFill>
                  <a:schemeClr val="tx1"/>
                </a:solidFill>
              </a:rPr>
              <a:t>dateutil</a:t>
            </a:r>
            <a:r>
              <a:rPr lang="en-US" sz="1200" dirty="0">
                <a:solidFill>
                  <a:schemeClr val="tx1"/>
                </a:solidFill>
              </a:rPr>
              <a:t>.</a:t>
            </a:r>
          </a:p>
        </p:txBody>
      </p:sp>
      <p:sp>
        <p:nvSpPr>
          <p:cNvPr id="1075" name="Rectangle 1074">
            <a:extLst>
              <a:ext uri="{FF2B5EF4-FFF2-40B4-BE49-F238E27FC236}">
                <a16:creationId xmlns:a16="http://schemas.microsoft.com/office/drawing/2014/main" id="{E2EB1452-A202-93FE-FC16-0F66D152D1F5}"/>
              </a:ext>
            </a:extLst>
          </p:cNvPr>
          <p:cNvSpPr/>
          <p:nvPr/>
        </p:nvSpPr>
        <p:spPr>
          <a:xfrm>
            <a:off x="5779031" y="2932769"/>
            <a:ext cx="2120446" cy="175852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A PC containing a GPU with 12 GB of VRAM, 32 GB of DDR4 RAM, a 16-core 3.2 GHz CPU, and a high-speed M.2 NVME for read/write speeds. The web application launches in a virtual PowerShell environment for easy management.</a:t>
            </a:r>
          </a:p>
        </p:txBody>
      </p:sp>
      <p:sp>
        <p:nvSpPr>
          <p:cNvPr id="3" name="Rectangle 2">
            <a:extLst>
              <a:ext uri="{FF2B5EF4-FFF2-40B4-BE49-F238E27FC236}">
                <a16:creationId xmlns:a16="http://schemas.microsoft.com/office/drawing/2014/main" id="{B41FF58C-D2A6-8727-C016-893375111959}"/>
              </a:ext>
            </a:extLst>
          </p:cNvPr>
          <p:cNvSpPr/>
          <p:nvPr/>
        </p:nvSpPr>
        <p:spPr>
          <a:xfrm>
            <a:off x="8086197" y="5259675"/>
            <a:ext cx="4040223" cy="320510"/>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Next Steps</a:t>
            </a:r>
          </a:p>
        </p:txBody>
      </p:sp>
      <p:sp>
        <p:nvSpPr>
          <p:cNvPr id="4" name="Rectangle 3">
            <a:extLst>
              <a:ext uri="{FF2B5EF4-FFF2-40B4-BE49-F238E27FC236}">
                <a16:creationId xmlns:a16="http://schemas.microsoft.com/office/drawing/2014/main" id="{FAA6B64C-BC3E-D38D-A4CA-B670AA269DFD}"/>
              </a:ext>
            </a:extLst>
          </p:cNvPr>
          <p:cNvSpPr/>
          <p:nvPr/>
        </p:nvSpPr>
        <p:spPr>
          <a:xfrm>
            <a:off x="8086197" y="5580185"/>
            <a:ext cx="4040223" cy="116462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There are lots of different avenues that this project can go. Ideally, I would like to design this for Linux systems because of easy package management and lightweight usage of operating system resources. Next will be to add the ability to upload multiple files. Finally, a history of all previously summarized events.</a:t>
            </a:r>
          </a:p>
        </p:txBody>
      </p:sp>
      <p:sp>
        <p:nvSpPr>
          <p:cNvPr id="9" name="Rectangle 8">
            <a:extLst>
              <a:ext uri="{FF2B5EF4-FFF2-40B4-BE49-F238E27FC236}">
                <a16:creationId xmlns:a16="http://schemas.microsoft.com/office/drawing/2014/main" id="{1B48DA2A-29B6-72A6-3E51-56B15040722B}"/>
              </a:ext>
            </a:extLst>
          </p:cNvPr>
          <p:cNvSpPr/>
          <p:nvPr/>
        </p:nvSpPr>
        <p:spPr>
          <a:xfrm>
            <a:off x="1295400" y="0"/>
            <a:ext cx="10896600" cy="667820"/>
          </a:xfrm>
          <a:prstGeom prst="rect">
            <a:avLst/>
          </a:prstGeom>
          <a:solidFill>
            <a:srgbClr val="FA4616"/>
          </a:solidFill>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3200" b="1" dirty="0"/>
              <a:t>Insight Analyst – AI-Powered Log Summarizer</a:t>
            </a:r>
          </a:p>
        </p:txBody>
      </p:sp>
      <p:pic>
        <p:nvPicPr>
          <p:cNvPr id="12" name="Content Placeholder 5" descr="A screenshot of a computer&#10;&#10;AI-generated content may be incorrect.">
            <a:extLst>
              <a:ext uri="{FF2B5EF4-FFF2-40B4-BE49-F238E27FC236}">
                <a16:creationId xmlns:a16="http://schemas.microsoft.com/office/drawing/2014/main" id="{70662D9E-01D5-5DE8-C054-60B3622BDF21}"/>
              </a:ext>
            </a:extLst>
          </p:cNvPr>
          <p:cNvPicPr>
            <a:picLocks noChangeAspect="1"/>
          </p:cNvPicPr>
          <p:nvPr/>
        </p:nvPicPr>
        <p:blipFill>
          <a:blip r:embed="rId3"/>
          <a:srcRect l="-2" t="7117" b="20755"/>
          <a:stretch>
            <a:fillRect/>
          </a:stretch>
        </p:blipFill>
        <p:spPr>
          <a:xfrm>
            <a:off x="3890016" y="4755599"/>
            <a:ext cx="3778024" cy="1989213"/>
          </a:xfrm>
          <a:prstGeom prst="rect">
            <a:avLst/>
          </a:prstGeom>
        </p:spPr>
      </p:pic>
      <p:pic>
        <p:nvPicPr>
          <p:cNvPr id="15" name="Picture 14">
            <a:extLst>
              <a:ext uri="{FF2B5EF4-FFF2-40B4-BE49-F238E27FC236}">
                <a16:creationId xmlns:a16="http://schemas.microsoft.com/office/drawing/2014/main" id="{69604477-EA39-040C-BF2C-AFBDB8C42CF2}"/>
              </a:ext>
            </a:extLst>
          </p:cNvPr>
          <p:cNvPicPr>
            <a:picLocks noChangeAspect="1"/>
          </p:cNvPicPr>
          <p:nvPr/>
        </p:nvPicPr>
        <p:blipFill>
          <a:blip r:embed="rId4"/>
          <a:stretch>
            <a:fillRect/>
          </a:stretch>
        </p:blipFill>
        <p:spPr>
          <a:xfrm>
            <a:off x="8061303" y="853738"/>
            <a:ext cx="4065117" cy="1873701"/>
          </a:xfrm>
          <a:prstGeom prst="rect">
            <a:avLst/>
          </a:prstGeom>
        </p:spPr>
      </p:pic>
      <p:sp>
        <p:nvSpPr>
          <p:cNvPr id="16" name="Rectangle 15">
            <a:extLst>
              <a:ext uri="{FF2B5EF4-FFF2-40B4-BE49-F238E27FC236}">
                <a16:creationId xmlns:a16="http://schemas.microsoft.com/office/drawing/2014/main" id="{D840B195-D121-2102-284A-6B92BE59D7A0}"/>
              </a:ext>
            </a:extLst>
          </p:cNvPr>
          <p:cNvSpPr/>
          <p:nvPr/>
        </p:nvSpPr>
        <p:spPr>
          <a:xfrm>
            <a:off x="8061302" y="2727439"/>
            <a:ext cx="4065117" cy="320511"/>
          </a:xfrm>
          <a:prstGeom prst="rect">
            <a:avLst/>
          </a:prstGeom>
          <a:solidFill>
            <a:srgbClr val="FA461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Understanding the Design</a:t>
            </a:r>
          </a:p>
        </p:txBody>
      </p:sp>
      <p:sp>
        <p:nvSpPr>
          <p:cNvPr id="17" name="Rectangle 16">
            <a:extLst>
              <a:ext uri="{FF2B5EF4-FFF2-40B4-BE49-F238E27FC236}">
                <a16:creationId xmlns:a16="http://schemas.microsoft.com/office/drawing/2014/main" id="{B0F61E8C-D408-184F-A4A8-98EA690A46B9}"/>
              </a:ext>
            </a:extLst>
          </p:cNvPr>
          <p:cNvSpPr/>
          <p:nvPr/>
        </p:nvSpPr>
        <p:spPr>
          <a:xfrm>
            <a:off x="8061300" y="3050933"/>
            <a:ext cx="4065117" cy="205663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This will begin with the user launching the web app. They will then upload their CSV file. The pandas library will then read the CSV file. This data will be given to the LLM, with respective columns and rows, sent in chunks for optimized processing. This will then be converted to JSON, for formatting and computer readability. This is one of the best ways to prompt AI. This JSON data and the JSON prompt, defined in the code, will then be sent to the LLM using the local API server. Insight Analyst will now begin to analyze and summarize the data. The result is a detailed and easy-to-follow report that can also be downloaded.</a:t>
            </a:r>
          </a:p>
        </p:txBody>
      </p:sp>
    </p:spTree>
    <p:extLst>
      <p:ext uri="{BB962C8B-B14F-4D97-AF65-F5344CB8AC3E}">
        <p14:creationId xmlns:p14="http://schemas.microsoft.com/office/powerpoint/2010/main" val="13838302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1254</TotalTime>
  <Words>527</Words>
  <Application>Microsoft Macintosh PowerPoint</Application>
  <PresentationFormat>Widescreen</PresentationFormat>
  <Paragraphs>22</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Quintana, Martin - 01</dc:creator>
  <cp:lastModifiedBy>Quintana, Martin - 01</cp:lastModifiedBy>
  <cp:revision>35</cp:revision>
  <dcterms:created xsi:type="dcterms:W3CDTF">2025-03-25T17:21:57Z</dcterms:created>
  <dcterms:modified xsi:type="dcterms:W3CDTF">2025-12-04T20:35:31Z</dcterms:modified>
</cp:coreProperties>
</file>